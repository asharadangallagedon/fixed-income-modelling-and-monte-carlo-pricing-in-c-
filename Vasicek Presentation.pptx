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499" y="-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64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41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85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31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981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7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321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83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74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16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1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2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36E7D0-A129-EF9D-74C3-262131C9DAC3}"/>
              </a:ext>
            </a:extLst>
          </p:cNvPr>
          <p:cNvSpPr txBox="1"/>
          <p:nvPr/>
        </p:nvSpPr>
        <p:spPr>
          <a:xfrm>
            <a:off x="1600200" y="2286000"/>
            <a:ext cx="8991600" cy="1828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cap="all" spc="200" baseline="0">
                <a:latin typeface="+mj-lt"/>
                <a:ea typeface="+mj-ea"/>
                <a:cs typeface="+mj-cs"/>
              </a:rPr>
              <a:t>VASICEK FIXED INCOME MODELLING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31B8B-801C-3AD3-0826-D20501417138}"/>
              </a:ext>
            </a:extLst>
          </p:cNvPr>
          <p:cNvSpPr txBox="1"/>
          <p:nvPr/>
        </p:nvSpPr>
        <p:spPr>
          <a:xfrm>
            <a:off x="2695194" y="4483290"/>
            <a:ext cx="6801612" cy="1329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spcBef>
                <a:spcPts val="1000"/>
              </a:spcBef>
              <a:buClr>
                <a:schemeClr val="accent2"/>
              </a:buClr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By Ashara Dangallage Don</a:t>
            </a:r>
          </a:p>
        </p:txBody>
      </p:sp>
    </p:spTree>
    <p:extLst>
      <p:ext uri="{BB962C8B-B14F-4D97-AF65-F5344CB8AC3E}">
        <p14:creationId xmlns:p14="http://schemas.microsoft.com/office/powerpoint/2010/main" val="8177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3459"/>
                </a:solidFill>
              </a:rPr>
              <a:t>Fixed Income Modelling &amp; Monte Carlo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26878"/>
            <a:ext cx="1097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505050"/>
                </a:solidFill>
              </a:rPr>
              <a:t>Queen Mary </a:t>
            </a:r>
            <a:r>
              <a:rPr sz="1800" b="1" dirty="0" err="1">
                <a:solidFill>
                  <a:srgbClr val="505050"/>
                </a:solidFill>
              </a:rPr>
              <a:t>Univers</a:t>
            </a:r>
            <a:r>
              <a:rPr lang="en-GB" sz="1800" b="1" dirty="0">
                <a:solidFill>
                  <a:srgbClr val="505050"/>
                </a:solidFill>
              </a:rPr>
              <a:t>i</a:t>
            </a:r>
            <a:r>
              <a:rPr sz="1800" b="1" dirty="0">
                <a:solidFill>
                  <a:srgbClr val="505050"/>
                </a:solidFill>
              </a:rPr>
              <a:t>ty of London</a:t>
            </a:r>
            <a:endParaRPr lang="en-GB" sz="1800" b="1" dirty="0">
              <a:solidFill>
                <a:srgbClr val="505050"/>
              </a:solidFill>
            </a:endParaRPr>
          </a:p>
          <a:p>
            <a:pPr algn="l"/>
            <a:endParaRPr lang="en-GB" dirty="0">
              <a:solidFill>
                <a:srgbClr val="505050"/>
              </a:solidFill>
            </a:endParaRPr>
          </a:p>
          <a:p>
            <a:pPr algn="l"/>
            <a:r>
              <a:rPr sz="1800" b="0" dirty="0">
                <a:solidFill>
                  <a:srgbClr val="505050"/>
                </a:solidFill>
              </a:rPr>
              <a:t>C++ implementation covering curve construction, Vasicek modelling, validation, and sensitivity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258" y="2431913"/>
            <a:ext cx="5394960" cy="3108960"/>
          </a:xfrm>
          <a:prstGeom prst="roundRect">
            <a:avLst/>
          </a:prstGeom>
          <a:solidFill>
            <a:srgbClr val="F0F4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6578" y="266051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459"/>
                </a:solidFill>
              </a:rPr>
              <a:t>What was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578" y="3071993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Semi-annual swap-curve bootstrap using linear interpolation of discount factors</a:t>
            </a: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Vasicek term-structure analytics: discount factors, spot rates, and forward rates</a:t>
            </a: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Monte Carlo pricing for a 5Y zero-coupon bond, a short-rate call, and a bond call</a:t>
            </a: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Sensitivity sweep over mean reversion a and volatility 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2204" y="2431913"/>
            <a:ext cx="5303520" cy="3108960"/>
          </a:xfrm>
          <a:prstGeom prst="roundRect">
            <a:avLst/>
          </a:prstGeom>
          <a:solidFill>
            <a:srgbClr val="F0F4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96524" y="266051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459"/>
                </a:solidFill>
              </a:rPr>
              <a:t>Final validation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6524" y="3071993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5Y zero-coupon bond: passes the 0.1% relative SE target</a:t>
            </a: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Bond call: passes the 1% relative SE target</a:t>
            </a: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Short-rate call: above the 1% target at the chosen run size</a:t>
            </a:r>
          </a:p>
          <a:p>
            <a:pPr>
              <a:spcAft>
                <a:spcPts val="600"/>
              </a:spcAft>
              <a:defRPr sz="1500">
                <a:solidFill>
                  <a:srgbClr val="505050"/>
                </a:solidFill>
              </a:defRPr>
            </a:pPr>
            <a:r>
              <a:t>Main takeaway: framework is stable, but the rate option would need a larger simulation budget for tighter precision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42276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43459"/>
                </a:solidFill>
              </a:rPr>
              <a:t>Q1 </a:t>
            </a:r>
            <a:r>
              <a:rPr lang="en-GB" sz="2400" b="1" dirty="0">
                <a:solidFill>
                  <a:srgbClr val="143459"/>
                </a:solidFill>
              </a:rPr>
              <a:t>-</a:t>
            </a:r>
            <a:r>
              <a:rPr sz="2400" b="1" dirty="0">
                <a:solidFill>
                  <a:srgbClr val="143459"/>
                </a:solidFill>
              </a:rPr>
              <a:t> Market Curve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4553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505050"/>
                </a:solidFill>
              </a:rPr>
              <a:t>Bootstrapped from semi-annual par swap quotes (1Y to 10Y). The discount factor curve is monotone and the zero spot curve is upward-sloping, which is consistent with the input term structure.</a:t>
            </a:r>
          </a:p>
        </p:txBody>
      </p:sp>
      <p:pic>
        <p:nvPicPr>
          <p:cNvPr id="4" name="Picture 3" descr="discount factor 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16742"/>
            <a:ext cx="5577840" cy="3033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177899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Bootstrapped discount factor curve</a:t>
            </a:r>
          </a:p>
        </p:txBody>
      </p:sp>
      <p:pic>
        <p:nvPicPr>
          <p:cNvPr id="6" name="Picture 5" descr="zero spot rate 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16742"/>
            <a:ext cx="5577840" cy="31204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264578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Bootstrapped zero spot curve (continuously compounded)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62863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505050"/>
                </a:solidFill>
              </a:rPr>
              <a:t>Headline checks: 1Y ZCB = 0.9741 | 2Y zero rate = 3.0033% | 7Y swap @ 4.42% reprices negative | 9Y par swap rate = 4.8309%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522373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43459"/>
                </a:solidFill>
              </a:rPr>
              <a:t>Q2 </a:t>
            </a:r>
            <a:r>
              <a:rPr lang="en-GB" sz="2400" b="1" dirty="0">
                <a:solidFill>
                  <a:srgbClr val="143459"/>
                </a:solidFill>
              </a:rPr>
              <a:t>-</a:t>
            </a:r>
            <a:r>
              <a:rPr sz="2400" b="1" dirty="0">
                <a:solidFill>
                  <a:srgbClr val="143459"/>
                </a:solidFill>
              </a:rPr>
              <a:t> Simulated Short-Rate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7977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505050"/>
                </a:solidFill>
              </a:rPr>
              <a:t>Representative histograms at 5, 10 and 15 years. The center of the distribution moves toward the long-run mean b = 10%, while the shape remains broadly Gaussian under Vasicek.</a:t>
            </a:r>
          </a:p>
        </p:txBody>
      </p:sp>
      <p:pic>
        <p:nvPicPr>
          <p:cNvPr id="4" name="Picture 3" descr="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19656"/>
            <a:ext cx="3840480" cy="17570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3904183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t = 5</a:t>
            </a:r>
          </a:p>
        </p:txBody>
      </p:sp>
      <p:pic>
        <p:nvPicPr>
          <p:cNvPr id="6" name="Picture 5" descr="t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119656"/>
            <a:ext cx="3840480" cy="17552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60520" y="3902307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t = 10</a:t>
            </a:r>
          </a:p>
        </p:txBody>
      </p:sp>
      <p:pic>
        <p:nvPicPr>
          <p:cNvPr id="8" name="Picture 7" descr="t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119656"/>
            <a:ext cx="3840480" cy="1852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39998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t =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869" y="4566161"/>
            <a:ext cx="1078992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05050"/>
                </a:solidFill>
              </a:defRPr>
            </a:pPr>
            <a:r>
              <a:rPr dirty="0"/>
              <a:t>Mean short rate rises from roughly 7.68% at year 1 toward 9.93% by year 15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05050"/>
                </a:solidFill>
              </a:defRPr>
            </a:pPr>
            <a:r>
              <a:rPr dirty="0"/>
              <a:t>The model allows some negative short-rate outcomes because Vasicek is Gaussian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05050"/>
                </a:solidFill>
              </a:defRPr>
            </a:pPr>
            <a:r>
              <a:rPr dirty="0"/>
              <a:t>These plots are useful as a distribution check rather than a calibration claim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3459"/>
                </a:solidFill>
              </a:rPr>
              <a:t>Validation and Convergence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69267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505050"/>
                </a:solidFill>
              </a:rPr>
              <a:t>The table below shows where the implementation met the target precision and where it did not.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320366"/>
              </p:ext>
            </p:extLst>
          </p:nvPr>
        </p:nvGraphicFramePr>
        <p:xfrm>
          <a:off x="641055" y="1789888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Instrument</a:t>
                      </a:r>
                    </a:p>
                  </a:txBody>
                  <a:tcPr>
                    <a:solidFill>
                      <a:srgbClr val="1434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MC price</a:t>
                      </a:r>
                    </a:p>
                  </a:txBody>
                  <a:tcPr>
                    <a:solidFill>
                      <a:srgbClr val="1434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Std. error</a:t>
                      </a:r>
                    </a:p>
                  </a:txBody>
                  <a:tcPr>
                    <a:solidFill>
                      <a:srgbClr val="1434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Rel. error</a:t>
                      </a:r>
                    </a:p>
                  </a:txBody>
                  <a:tcPr>
                    <a:solidFill>
                      <a:srgbClr val="1434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434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Exact / benchmark</a:t>
                      </a:r>
                    </a:p>
                  </a:txBody>
                  <a:tcPr>
                    <a:solidFill>
                      <a:srgbClr val="1434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Abs. diff</a:t>
                      </a:r>
                    </a:p>
                  </a:txBody>
                  <a:tcPr>
                    <a:solidFill>
                      <a:srgbClr val="1434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5Y zero-coupon bond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0.664023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0.001049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0.158%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[0.661967, 0.666080]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0.663139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0.000885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Short-rate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2452.470261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102.836537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[2250.910648, 2654.029874]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Bond call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0.026102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0.000451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1.73%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[0.025218, 0.026986]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0505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50505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8368" y="439689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05050"/>
                </a:solidFill>
              </a:defRPr>
            </a:pPr>
            <a:r>
              <a:rPr dirty="0"/>
              <a:t>The 5Y zero-coupon bond tracks the analytical price closely, but this specific table is above the original 0.1% target.</a:t>
            </a:r>
          </a:p>
          <a:p>
            <a:pPr>
              <a:spcAft>
                <a:spcPts val="600"/>
              </a:spcAft>
              <a:defRPr sz="1300">
                <a:solidFill>
                  <a:srgbClr val="505050"/>
                </a:solidFill>
              </a:defRPr>
            </a:pPr>
            <a:r>
              <a:rPr dirty="0"/>
              <a:t>The short-rate call is the least precise estimate here and would need a materially larger path count to push the relative SE below 1%.</a:t>
            </a:r>
          </a:p>
          <a:p>
            <a:pPr>
              <a:spcAft>
                <a:spcPts val="600"/>
              </a:spcAft>
              <a:defRPr sz="1300">
                <a:solidFill>
                  <a:srgbClr val="505050"/>
                </a:solidFill>
              </a:defRPr>
            </a:pPr>
            <a:r>
              <a:rPr dirty="0"/>
              <a:t>The bond call is much tighter, but still above 1% in this final 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3459"/>
                </a:solidFill>
              </a:rPr>
              <a:t>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39024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505050"/>
                </a:solidFill>
              </a:rPr>
              <a:t>Scenario grid used in code: a ∈ {0.10, 0.25, 0.50}, σ ∈ {0.01, 0.02, 0.04}</a:t>
            </a:r>
          </a:p>
        </p:txBody>
      </p:sp>
      <p:pic>
        <p:nvPicPr>
          <p:cNvPr id="4" name="Picture 3" descr="bond price vs vola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36749"/>
            <a:ext cx="5486400" cy="26966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5608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Bond option price vs volatility</a:t>
            </a:r>
          </a:p>
        </p:txBody>
      </p:sp>
      <p:pic>
        <p:nvPicPr>
          <p:cNvPr id="6" name="Picture 5" descr="zero coupon bond vs mean re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36749"/>
            <a:ext cx="5486400" cy="28868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72200" y="4751025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5Y zero-coupon bond price vs mean reversion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353216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505050"/>
                </a:solidFill>
              </a:defRPr>
            </a:pPr>
            <a:r>
              <a:rPr dirty="0"/>
              <a:t>Higher σ lifts bond option values across all a settings, which is the expected convexity effect.</a:t>
            </a:r>
          </a:p>
          <a:p>
            <a:pPr>
              <a:spcAft>
                <a:spcPts val="600"/>
              </a:spcAft>
              <a:defRPr sz="1250">
                <a:solidFill>
                  <a:srgbClr val="505050"/>
                </a:solidFill>
              </a:defRPr>
            </a:pPr>
            <a:r>
              <a:rPr dirty="0"/>
              <a:t>Higher a lowers the 5Y bond price in this setup by pulling rates back toward the long-run mean more quickly.</a:t>
            </a:r>
          </a:p>
          <a:p>
            <a:pPr>
              <a:spcAft>
                <a:spcPts val="600"/>
              </a:spcAft>
              <a:defRPr sz="1250">
                <a:solidFill>
                  <a:srgbClr val="505050"/>
                </a:solidFill>
              </a:defRPr>
            </a:pPr>
            <a:r>
              <a:rPr dirty="0"/>
              <a:t>At a fixed a, larger σ partly offsets that price drop because added uncertainty raises the bond value in these scenarios.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3459"/>
                </a:solidFill>
              </a:rPr>
              <a:t>Implementation Choices and Risk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035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rPr dirty="0"/>
              <a:t>Curve bootstrap uses linear interpolation of discount factors between quoted maturities.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rPr dirty="0"/>
              <a:t>The short-rate simulation uses the exact Vasicek transition rather than an Euler step.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rPr dirty="0"/>
              <a:t>Discounting along each path is done with a trapezoid approximation to the short-rate integral.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rPr dirty="0"/>
              <a:t>The workflow reports standard error, relative error and 95% confidence intervals.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rPr dirty="0"/>
              <a:t>Randomness is seeded to keep runs reproducible during review.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35199" y="1234440"/>
            <a:ext cx="5303520" cy="2926080"/>
          </a:xfrm>
          <a:prstGeom prst="roundRect">
            <a:avLst/>
          </a:prstGeom>
          <a:solidFill>
            <a:srgbClr val="F0F4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09519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459"/>
                </a:solidFill>
              </a:rPr>
              <a:t>Base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9519" y="187451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05050"/>
                </a:solidFill>
              </a:rPr>
              <a:t>a = 0.25 | b = 0.10 | σ = 0.02 | r0 = 0.07
dt = 1/252 | seed = 1234
n_paths_hist = 30,000
n_paths_bond = 30,000
n_paths_opt = 30,000
n_paths_sensitivity = 10,000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50865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43459"/>
                </a:solidFill>
              </a:rPr>
              <a:t>Model Risk, Limits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383280" cy="3383280"/>
          </a:xfrm>
          <a:prstGeom prst="roundRect">
            <a:avLst/>
          </a:prstGeom>
          <a:solidFill>
            <a:srgbClr val="F0F4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459"/>
                </a:solidFill>
              </a:rPr>
              <a:t>Known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Vasicek is Gaussian, so negative short rates can appear.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This is a one-factor model, so curve-shape flexibility is limited.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There is no market calibration step in this version.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280160"/>
            <a:ext cx="3383280" cy="3383280"/>
          </a:xfrm>
          <a:prstGeom prst="roundRect">
            <a:avLst/>
          </a:prstGeom>
          <a:solidFill>
            <a:srgbClr val="F0F4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0" y="1554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459"/>
                </a:solidFill>
              </a:rPr>
              <a:t>What is still useful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9659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rPr dirty="0"/>
              <a:t>The build is transparent and reproducible.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rPr dirty="0"/>
              <a:t>It shows the full chain from market curve to pricing outputs.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rPr dirty="0"/>
              <a:t>The sensitivity grid gives a clean way to discuss directional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280160"/>
            <a:ext cx="3383280" cy="3383280"/>
          </a:xfrm>
          <a:prstGeom prst="roundRect">
            <a:avLst/>
          </a:prstGeom>
          <a:solidFill>
            <a:srgbClr val="F0F4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1554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459"/>
                </a:solidFill>
              </a:rPr>
              <a:t>Natural extensions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9659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rPr dirty="0"/>
              <a:t>Increase path budgets adaptively by target error.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rPr dirty="0"/>
              <a:t>Calibrate parameters to market instruments.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rPr dirty="0"/>
              <a:t>Compare against an alternative model such as CIR.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9682EA-BA94-80E3-1CA2-9B809A5E2305}"/>
              </a:ext>
            </a:extLst>
          </p:cNvPr>
          <p:cNvSpPr txBox="1"/>
          <p:nvPr/>
        </p:nvSpPr>
        <p:spPr>
          <a:xfrm>
            <a:off x="5458969" y="2386744"/>
            <a:ext cx="5928358" cy="1645920"/>
          </a:xfrm>
          <a:prstGeom prst="rect">
            <a:avLst/>
          </a:prstGeom>
        </p:spPr>
        <p:txBody>
          <a:bodyPr vert="horz" lIns="274320" tIns="182880" rIns="274320" bIns="182880" rtlCol="0" anchor="ctr" anchorCtr="1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 cap="all" spc="20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pic>
        <p:nvPicPr>
          <p:cNvPr id="5" name="Picture 4" descr="Question marks in a line and one question mark is lit">
            <a:extLst>
              <a:ext uri="{FF2B5EF4-FFF2-40B4-BE49-F238E27FC236}">
                <a16:creationId xmlns:a16="http://schemas.microsoft.com/office/drawing/2014/main" id="{4369C99F-F8DA-5B66-AB5F-5EF0305704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92" r="49807" b="-1"/>
          <a:stretch>
            <a:fillRect/>
          </a:stretch>
        </p:blipFill>
        <p:spPr>
          <a:xfrm>
            <a:off x="20" y="10"/>
            <a:ext cx="465427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2985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29</TotalTime>
  <Words>788</Words>
  <Application>Microsoft Office PowerPoint</Application>
  <PresentationFormat>Widescreen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Ashara Dangallage don</cp:lastModifiedBy>
  <cp:revision>13</cp:revision>
  <dcterms:created xsi:type="dcterms:W3CDTF">2013-01-27T09:14:16Z</dcterms:created>
  <dcterms:modified xsi:type="dcterms:W3CDTF">2026-02-28T19:37:19Z</dcterms:modified>
  <cp:category/>
</cp:coreProperties>
</file>